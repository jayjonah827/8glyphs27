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875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>
                <a:solidFill>
                  <a:srgbClr val="C9A852"/>
                </a:solidFill>
                <a:latin typeface="Georgia"/>
              </a:rPr>
              <a:t>HEYER LIVIN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875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F5F0E4"/>
                </a:solidFill>
                <a:latin typeface="Calibri"/>
              </a:rPr>
              <a:t>Cultural Intelligence, Research, and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66160"/>
            <a:ext cx="3200400" cy="27432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9875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7A9E7E"/>
                </a:solidFill>
                <a:latin typeface="Calibri"/>
              </a:rPr>
              <a:t>A System for Measuring Event Cycles, Meaning, and Human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875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AAAAAA"/>
                </a:solidFill>
                <a:latin typeface="Calibri"/>
              </a:rPr>
              <a:t>Jair Valley  |  Founder-Researcher  |  Heyer Livin LLC  |  Oakland, California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7A9E7E"/>
                </a:solidFill>
                <a:latin typeface="Calibr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A3C2A"/>
                </a:solidFill>
                <a:latin typeface="Georgia"/>
              </a:rPr>
              <a:t>A cross-domain cultural intelligence system that translates human interaction, observed change, and symbolic meaning into structured records, usable frameworks, and public-facing knowledge.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828800" cy="27432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Heyer Livin is an original research and system design platform built to study how meaning is formed, how change becomes legible, and how interaction can be recorded in a repeatable way.</a:t>
            </a:r>
          </a:p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/>
            </a:r>
          </a:p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At its center: Self plus Interaction equals Reality. The self is the prior state. Interaction is the event. Reality is the new information produced by that exchange.</a:t>
            </a:r>
          </a:p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/>
            </a:r>
          </a:p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The system converts experience into structured cultural memory and usable pattern intelligence.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560320"/>
            <a:ext cx="5029200" cy="347472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834640"/>
            <a:ext cx="438912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Core Equation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Self + Interaction = Reality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Self is the prior state.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Interaction is the event.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Reality is the new information.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One equation. Every domain.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83464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C9A852"/>
                </a:solidFill>
                <a:latin typeface="Georgia"/>
              </a:rPr>
              <a:t>Core Equation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7A9E7E"/>
                </a:solidFill>
                <a:latin typeface="Calibri"/>
              </a:rPr>
              <a:t>ORIGINALITY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3C2A"/>
                </a:solidFill>
                <a:latin typeface="Georgia"/>
              </a:rPr>
              <a:t>What Makes This System Distinct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4114800"/>
          </a:xfrm>
          <a:prstGeom prst="rect">
            <a:avLst/>
          </a:prstGeom>
          <a:solidFill>
            <a:srgbClr val="F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Glyph Event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A standardized event architecture where one record equals one measured event cycle. Each record contains a cycle definition, an irreversible event, derived metrics, routing, snapshot versioning, relations, and notes.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011680"/>
            <a:ext cx="3383280" cy="4114800"/>
          </a:xfrm>
          <a:prstGeom prst="rect">
            <a:avLst/>
          </a:prstGeom>
          <a:solidFill>
            <a:srgbClr val="F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383280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3774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Irreversible-Event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26080"/>
            <a:ext cx="283464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The system identifies an irreversible state change within a cycle, measures where that change occurs, converts it into a comparable ratio, and stores it in a structured record that can be compared across domains.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383280" cy="4114800"/>
          </a:xfrm>
          <a:prstGeom prst="rect">
            <a:avLst/>
          </a:prstGeom>
          <a:solidFill>
            <a:srgbClr val="F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383280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Cross-Domain Portability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283464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A5A5A"/>
                </a:solidFill>
                <a:latin typeface="Calibri"/>
              </a:rPr>
              <a:t>The same event logic applies across research, simulations, language, art, and site environments. The framework is not domain-bound. It is a method for converting interaction into structured cultural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7A9E7E"/>
                </a:solidFill>
                <a:latin typeface="Calibri"/>
              </a:rPr>
              <a:t>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C9A852"/>
                </a:solidFill>
                <a:latin typeface="Georgia"/>
              </a:rPr>
              <a:t>Why This Work Matters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Many of the systems that shape public life can measure volume, speed, and output, but not the deeper structure of interaction, meaning, and transition.</a:t>
            </a:r>
          </a:p>
          <a:p>
            <a:pPr algn="l">
              <a:lnSpc>
                <a:spcPts val="21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/>
            </a:r>
          </a:p>
          <a:p>
            <a:pPr algn="l">
              <a:lnSpc>
                <a:spcPts val="21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Heyer Livin addresses that gap by offering a human-centered framework for recording how change happens, how significance is recognized, and how culture can be interpreted without being flattened into generic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C9A852"/>
                </a:solidFill>
                <a:latin typeface="Calibri"/>
              </a:rPr>
              <a:t>CORE NOVEL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97680"/>
            <a:ext cx="1371600" cy="18288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5F0E4"/>
                </a:solidFill>
                <a:latin typeface="Calibri"/>
              </a:rPr>
              <a:t>Foundational cultural intelligence model rooted in Self + Interaction = Reality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36008"/>
            <a:ext cx="109728" cy="109728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5F0E4"/>
                </a:solidFill>
                <a:latin typeface="Calibri"/>
              </a:rPr>
              <a:t>Standardized glyph event record for consistent, reviewable observation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001768"/>
            <a:ext cx="109728" cy="109728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30352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5F0E4"/>
                </a:solidFill>
                <a:latin typeface="Calibri"/>
              </a:rPr>
              <a:t>Irreversible-event measurement as a novel system concept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367528"/>
            <a:ext cx="109728" cy="109728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66928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5F0E4"/>
                </a:solidFill>
                <a:latin typeface="Calibri"/>
              </a:rPr>
              <a:t>Cross-domain comparability across research, language, art, and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733288"/>
            <a:ext cx="109728" cy="109728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03504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5F0E4"/>
                </a:solidFill>
                <a:latin typeface="Calibri"/>
              </a:rPr>
              <a:t>Cultural memory as system output, not classification 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099048"/>
            <a:ext cx="109728" cy="109728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400800"/>
            <a:ext cx="10058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F5F0E4"/>
                </a:solidFill>
                <a:latin typeface="Calibri"/>
              </a:rPr>
              <a:t>Method over isolated result: the value is the architecture itself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464808"/>
            <a:ext cx="109728" cy="109728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7A9E7E"/>
                </a:solidFill>
                <a:latin typeface="Calibri"/>
              </a:rPr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3C2A"/>
                </a:solidFill>
                <a:latin typeface="Georgia"/>
              </a:rPr>
              <a:t>Areas of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2103120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27432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Structured event recording for observation-based study across social science, cultural analysis, and interdisciplinary inquiry.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54864" cy="2103120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599" y="2057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599" y="2514600"/>
            <a:ext cx="27432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Frameworks for teaching cultural intelligence, systems thinking, and structured interpretation at the undergraduate and transfer level.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82880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54864" cy="2103120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514600"/>
            <a:ext cx="27432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System architecture that connects brand identity, symbolic logic, and artifact production into a coherent design practice.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448056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06040" y="4480560"/>
            <a:ext cx="54864" cy="2103120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7091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Language &amp; 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166360"/>
            <a:ext cx="27432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Tools for interpreting symbolic meaning, narrative structure, and expressive output through the glyph event record.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79" y="448056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4480560"/>
            <a:ext cx="54864" cy="2103120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19" y="47091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2C5F2D"/>
                </a:solidFill>
                <a:latin typeface="Georgia"/>
              </a:rPr>
              <a:t>Site &amp; System Environments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19" y="5166360"/>
            <a:ext cx="27432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A5A5A"/>
                </a:solidFill>
                <a:latin typeface="Calibri"/>
              </a:rPr>
              <a:t>Applied cultural intelligence within digital platforms, organizational systems, and public-facing knowledge structures.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7A9E7E"/>
                </a:solidFill>
                <a:latin typeface="Calibri"/>
              </a:rPr>
              <a:t>ACADEMIC &amp; INSTITUTIONAL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3C2A"/>
                </a:solidFill>
                <a:latin typeface="Georgia"/>
              </a:rPr>
              <a:t>Scholarship and Institutional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solidFill>
            <a:srgbClr val="F5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C5F2D"/>
                </a:solidFill>
                <a:latin typeface="Georgia"/>
              </a:rPr>
              <a:t>Scholarship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48056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Heyer Livin demonstrates original thought, interdisciplinary range, and a sustained commitment to building new intellectual tools.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The work connects culture, cognition, observation, and structured recording in a way that is both intellectually ambitious and practically organized.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5A5A5A"/>
                </a:solidFill>
                <a:latin typeface="Calibri"/>
              </a:rPr>
              <a:t>The creator is a Berkeley City College student and transfer-track scholar building this body of work independently.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1A3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C9A852"/>
                </a:solidFill>
                <a:latin typeface="Georgia"/>
              </a:rPr>
              <a:t>Provisional Filing Framing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480560" cy="2926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F5F0E4"/>
                </a:solidFill>
                <a:latin typeface="Calibri"/>
              </a:rPr>
              <a:t>The system presents a novel system architecture with a repeatable event-cycle logic, irreversible-event measurement concept, and standardized record structure.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F5F0E4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F5F0E4"/>
                </a:solidFill>
                <a:latin typeface="Calibri"/>
              </a:rPr>
              <a:t>This positions it as a strong provisional filing candidate and an original methodological framework.</a:t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F5F0E4"/>
                </a:solidFill>
                <a:latin typeface="Calibri"/>
              </a:rPr>
              <a:t/>
            </a:r>
          </a:p>
          <a:p>
            <a:pPr algn="l">
              <a:lnSpc>
                <a:spcPts val="1900"/>
              </a:lnSpc>
              <a:spcAft>
                <a:spcPts val="400"/>
              </a:spcAft>
            </a:pPr>
            <a:r>
              <a:rPr sz="1200" b="0">
                <a:solidFill>
                  <a:srgbClr val="F5F0E4"/>
                </a:solidFill>
                <a:latin typeface="Calibri"/>
              </a:rPr>
              <a:t>The value lies in the architecture of recording, interpretation, and comparison across domains and contexts.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875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C9A852"/>
                </a:solidFill>
                <a:latin typeface="Georgia"/>
              </a:rPr>
              <a:t>Jair Valley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875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5F0E4"/>
                </a:solidFill>
                <a:latin typeface="Calibri"/>
              </a:rPr>
              <a:t>Founder-Researcher  |  Heyer Livin LLC  |  Berkeley City College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017520"/>
            <a:ext cx="3200400" cy="27432"/>
          </a:xfrm>
          <a:prstGeom prst="rect">
            <a:avLst/>
          </a:prstGeom>
          <a:solidFill>
            <a:srgbClr val="C9A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144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Jair Valley is a Berkeley City College student, transfer-track scholar, and founder developing Heyer Livin as an original body of interdisciplinary work at the intersection of culture, research, and system design.</a:t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/>
            </a:r>
          </a:p>
          <a:p>
            <a:pPr algn="l">
              <a:lnSpc>
                <a:spcPts val="2200"/>
              </a:lnSpc>
              <a:spcAft>
                <a:spcPts val="400"/>
              </a:spcAft>
            </a:pPr>
            <a:r>
              <a:rPr sz="1400" b="0">
                <a:solidFill>
                  <a:srgbClr val="F5F0E4"/>
                </a:solidFill>
                <a:latin typeface="Calibri"/>
              </a:rPr>
              <a:t>This deck is a curated introduction to a larger research, design, and systems project. The public-facing work represents a fraction of the full archive.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875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7A9E7E"/>
                </a:solidFill>
                <a:latin typeface="Calibri"/>
              </a:rPr>
              <a:t>For deeper review, additional materials and documentation are available upon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